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85"/>
    <p:restoredTop sz="92213"/>
  </p:normalViewPr>
  <p:slideViewPr>
    <p:cSldViewPr snapToGrid="0" snapToObjects="1">
      <p:cViewPr varScale="1">
        <p:scale>
          <a:sx n="75" d="100"/>
          <a:sy n="75" d="100"/>
        </p:scale>
        <p:origin x="2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94960" y="1371600"/>
            <a:ext cx="1371600" cy="13716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B4332"/>
                </a:solidFill>
              </a:defRPr>
            </a:pPr>
            <a:r>
              <a:t>词忆 · 单词记忆网站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B7F6E"/>
                </a:solidFill>
              </a:defRPr>
            </a:pPr>
            <a:r>
              <a:t>Spring Boot + 艾宾浩斯间隔复习 | 项目答辩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D6A4F"/>
                </a:solidFill>
              </a:defRPr>
            </a:pPr>
            <a:r>
              <a:t>GitHub: github.com/Nancy985/word-memory</a:t>
            </a:r>
            <a:br/>
            <a:r>
              <a:t>演示账号: demo / password123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4332"/>
                </a:solidFill>
              </a:defRPr>
            </a:pPr>
            <a:r>
              <a:t>01  项目背景与目标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C3E2D"/>
                </a:solidFill>
              </a:defRPr>
            </a:pPr>
            <a:r>
              <a:rPr dirty="0"/>
              <a:t>• </a:t>
            </a:r>
            <a:r>
              <a:rPr dirty="0" err="1"/>
              <a:t>背景：传统背单词缺乏科学复习计划，容易遗忘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C3E2D"/>
                </a:solidFill>
              </a:defRPr>
            </a:pPr>
            <a:r>
              <a:rPr dirty="0"/>
              <a:t>• </a:t>
            </a:r>
            <a:r>
              <a:rPr dirty="0" err="1"/>
              <a:t>目标：开发一款</a:t>
            </a:r>
            <a:r>
              <a:rPr dirty="0"/>
              <a:t> Web </a:t>
            </a:r>
            <a:r>
              <a:rPr dirty="0" err="1"/>
              <a:t>单词记忆系统，帮助用户高效背单词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C3E2D"/>
                </a:solidFill>
              </a:defRPr>
            </a:pPr>
            <a:r>
              <a:rPr dirty="0"/>
              <a:t>• </a:t>
            </a:r>
            <a:r>
              <a:rPr dirty="0" err="1"/>
              <a:t>用户：需要备考、日常积累词汇的学习者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F6E"/>
                </a:solidFill>
              </a:defRPr>
            </a:pPr>
            <a:r>
              <a:t>词忆 · 单词记忆网站 | 答辩演示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4332"/>
                </a:solidFill>
              </a:defRPr>
            </a:pPr>
            <a:r>
              <a:t>02  功能模块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A4F"/>
                </a:solidFill>
              </a:defRPr>
            </a:pPr>
            <a:r>
              <a:t>用户认证</a:t>
            </a:r>
          </a:p>
          <a:p>
            <a:pPr>
              <a:spcBef>
                <a:spcPts val="400"/>
              </a:spcBef>
              <a:defRPr sz="1400">
                <a:solidFill>
                  <a:srgbClr val="2C3E2D"/>
                </a:solidFill>
              </a:defRPr>
            </a:pPr>
            <a:r>
              <a:t>• 注册 / 登录</a:t>
            </a:r>
          </a:p>
          <a:p>
            <a:pPr>
              <a:spcBef>
                <a:spcPts val="400"/>
              </a:spcBef>
              <a:defRPr sz="1400">
                <a:solidFill>
                  <a:srgbClr val="2C3E2D"/>
                </a:solidFill>
              </a:defRPr>
            </a:pPr>
            <a:r>
              <a:t>• Token 鉴权</a:t>
            </a:r>
          </a:p>
          <a:p>
            <a:pPr>
              <a:spcBef>
                <a:spcPts val="400"/>
              </a:spcBef>
              <a:defRPr sz="1400">
                <a:solidFill>
                  <a:srgbClr val="2C3E2D"/>
                </a:solidFill>
              </a:defRPr>
            </a:pPr>
            <a:r>
              <a:t>• BCrypt 加密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4747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15087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A4F"/>
                </a:solidFill>
              </a:defRPr>
            </a:pPr>
            <a:r>
              <a:t>单词书管理</a:t>
            </a:r>
          </a:p>
          <a:p>
            <a:pPr>
              <a:spcBef>
                <a:spcPts val="400"/>
              </a:spcBef>
              <a:defRPr sz="1400">
                <a:solidFill>
                  <a:srgbClr val="2C3E2D"/>
                </a:solidFill>
              </a:defRPr>
            </a:pPr>
            <a:r>
              <a:t>• 单词书 CRUD</a:t>
            </a:r>
          </a:p>
          <a:p>
            <a:pPr>
              <a:spcBef>
                <a:spcPts val="400"/>
              </a:spcBef>
              <a:defRPr sz="1400">
                <a:solidFill>
                  <a:srgbClr val="2C3E2D"/>
                </a:solidFill>
              </a:defRPr>
            </a:pPr>
            <a:r>
              <a:t>• 单词增删改查</a:t>
            </a:r>
          </a:p>
          <a:p>
            <a:pPr>
              <a:spcBef>
                <a:spcPts val="400"/>
              </a:spcBef>
              <a:defRPr sz="1400">
                <a:solidFill>
                  <a:srgbClr val="2C3E2D"/>
                </a:solidFill>
              </a:defRPr>
            </a:pPr>
            <a:r>
              <a:t>• 公开 / 私有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747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5087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A4F"/>
                </a:solidFill>
              </a:defRPr>
            </a:pPr>
            <a:r>
              <a:t>背单词</a:t>
            </a:r>
          </a:p>
          <a:p>
            <a:pPr>
              <a:spcBef>
                <a:spcPts val="400"/>
              </a:spcBef>
              <a:defRPr sz="1400">
                <a:solidFill>
                  <a:srgbClr val="2C3E2D"/>
                </a:solidFill>
              </a:defRPr>
            </a:pPr>
            <a:r>
              <a:t>• 艾宾浩斯复习</a:t>
            </a:r>
          </a:p>
          <a:p>
            <a:pPr>
              <a:spcBef>
                <a:spcPts val="400"/>
              </a:spcBef>
              <a:defRPr sz="1400">
                <a:solidFill>
                  <a:srgbClr val="2C3E2D"/>
                </a:solidFill>
              </a:defRPr>
            </a:pPr>
            <a:r>
              <a:t>• 今日待复习</a:t>
            </a:r>
          </a:p>
          <a:p>
            <a:pPr>
              <a:spcBef>
                <a:spcPts val="400"/>
              </a:spcBef>
              <a:defRPr sz="1400">
                <a:solidFill>
                  <a:srgbClr val="2C3E2D"/>
                </a:solidFill>
              </a:defRPr>
            </a:pPr>
            <a:r>
              <a:t>• 学习进度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34747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A4F"/>
                </a:solidFill>
              </a:defRPr>
            </a:pPr>
            <a:r>
              <a:t>单词自测</a:t>
            </a:r>
          </a:p>
          <a:p>
            <a:pPr>
              <a:spcBef>
                <a:spcPts val="400"/>
              </a:spcBef>
              <a:defRPr sz="1400">
                <a:solidFill>
                  <a:srgbClr val="2C3E2D"/>
                </a:solidFill>
              </a:defRPr>
            </a:pPr>
            <a:r>
              <a:t>• 四选一出题</a:t>
            </a:r>
          </a:p>
          <a:p>
            <a:pPr>
              <a:spcBef>
                <a:spcPts val="400"/>
              </a:spcBef>
              <a:defRPr sz="1400">
                <a:solidFill>
                  <a:srgbClr val="2C3E2D"/>
                </a:solidFill>
              </a:defRPr>
            </a:pPr>
            <a:r>
              <a:t>• 自动计分</a:t>
            </a:r>
          </a:p>
          <a:p>
            <a:pPr>
              <a:spcBef>
                <a:spcPts val="400"/>
              </a:spcBef>
              <a:defRPr sz="1400">
                <a:solidFill>
                  <a:srgbClr val="2C3E2D"/>
                </a:solidFill>
              </a:defRPr>
            </a:pPr>
            <a:r>
              <a:t>• 更新复习进度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657600"/>
            <a:ext cx="34747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37947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A4F"/>
                </a:solidFill>
              </a:defRPr>
            </a:pPr>
            <a:r>
              <a:t>错词统计</a:t>
            </a:r>
          </a:p>
          <a:p>
            <a:pPr>
              <a:spcBef>
                <a:spcPts val="400"/>
              </a:spcBef>
              <a:defRPr sz="1400">
                <a:solidFill>
                  <a:srgbClr val="2C3E2D"/>
                </a:solidFill>
              </a:defRPr>
            </a:pPr>
            <a:r>
              <a:t>• 错词自动记录</a:t>
            </a:r>
          </a:p>
          <a:p>
            <a:pPr>
              <a:spcBef>
                <a:spcPts val="400"/>
              </a:spcBef>
              <a:defRPr sz="1400">
                <a:solidFill>
                  <a:srgbClr val="2C3E2D"/>
                </a:solidFill>
              </a:defRPr>
            </a:pPr>
            <a:r>
              <a:t>• 错误次数统计</a:t>
            </a:r>
          </a:p>
          <a:p>
            <a:pPr>
              <a:spcBef>
                <a:spcPts val="400"/>
              </a:spcBef>
              <a:defRPr sz="1400">
                <a:solidFill>
                  <a:srgbClr val="2C3E2D"/>
                </a:solidFill>
              </a:defRPr>
            </a:pPr>
            <a:r>
              <a:t>• 薄弱词分析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657600"/>
            <a:ext cx="34747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37947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A4F"/>
                </a:solidFill>
              </a:defRPr>
            </a:pPr>
            <a:r>
              <a:t>考试记录</a:t>
            </a:r>
          </a:p>
          <a:p>
            <a:pPr>
              <a:spcBef>
                <a:spcPts val="400"/>
              </a:spcBef>
              <a:defRPr sz="1400">
                <a:solidFill>
                  <a:srgbClr val="2C3E2D"/>
                </a:solidFill>
              </a:defRPr>
            </a:pPr>
            <a:r>
              <a:t>• 自测历史</a:t>
            </a:r>
          </a:p>
          <a:p>
            <a:pPr>
              <a:spcBef>
                <a:spcPts val="400"/>
              </a:spcBef>
              <a:defRPr sz="1400">
                <a:solidFill>
                  <a:srgbClr val="2C3E2D"/>
                </a:solidFill>
              </a:defRPr>
            </a:pPr>
            <a:r>
              <a:t>• 成绩查询</a:t>
            </a:r>
          </a:p>
          <a:p>
            <a:pPr>
              <a:spcBef>
                <a:spcPts val="400"/>
              </a:spcBef>
              <a:defRPr sz="1400">
                <a:solidFill>
                  <a:srgbClr val="2C3E2D"/>
                </a:solidFill>
              </a:defRPr>
            </a:pPr>
            <a:r>
              <a:t>• 答题明细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F6E"/>
                </a:solidFill>
              </a:defRPr>
            </a:pPr>
            <a:r>
              <a:t>词忆 · 单词记忆网站 | 答辩演示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4332"/>
                </a:solidFill>
              </a:defRPr>
            </a:pPr>
            <a:r>
              <a:t>03  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C3E2D"/>
                </a:solidFill>
              </a:defRPr>
            </a:pPr>
            <a:r>
              <a:t>• 前端：HTML + CSS + JavaScript（绿色暖白主题，单页应用）</a:t>
            </a:r>
          </a:p>
          <a:p>
            <a:pPr>
              <a:spcAft>
                <a:spcPts val="1000"/>
              </a:spcAft>
              <a:defRPr sz="2200">
                <a:solidFill>
                  <a:srgbClr val="2C3E2D"/>
                </a:solidFill>
              </a:defRPr>
            </a:pPr>
            <a:r>
              <a:t>• 后端：Spring Boot 3.2 + Spring Data JPA</a:t>
            </a:r>
          </a:p>
          <a:p>
            <a:pPr>
              <a:spcAft>
                <a:spcPts val="1000"/>
              </a:spcAft>
              <a:defRPr sz="2200">
                <a:solidFill>
                  <a:srgbClr val="2C3E2D"/>
                </a:solidFill>
              </a:defRPr>
            </a:pPr>
            <a:r>
              <a:t>• 数据库：H2 内存数据库（开发环境）</a:t>
            </a:r>
          </a:p>
          <a:p>
            <a:pPr>
              <a:spcAft>
                <a:spcPts val="1000"/>
              </a:spcAft>
              <a:defRPr sz="2200">
                <a:solidFill>
                  <a:srgbClr val="2C3E2D"/>
                </a:solidFill>
              </a:defRPr>
            </a:pPr>
            <a:r>
              <a:t>• 通信：RESTful API + JSON 统一响应格式</a:t>
            </a:r>
          </a:p>
          <a:p>
            <a:pPr>
              <a:spcAft>
                <a:spcPts val="1000"/>
              </a:spcAft>
              <a:defRPr sz="2200">
                <a:solidFill>
                  <a:srgbClr val="2C3E2D"/>
                </a:solidFill>
              </a:defRPr>
            </a:pPr>
            <a:r>
              <a:t>• 鉴权：Token（Authorization: Bearer xxx）</a:t>
            </a:r>
          </a:p>
          <a:p>
            <a:pPr>
              <a:spcAft>
                <a:spcPts val="1000"/>
              </a:spcAft>
              <a:defRPr sz="2200">
                <a:solidFill>
                  <a:srgbClr val="2C3E2D"/>
                </a:solidFill>
              </a:defRPr>
            </a:pPr>
            <a:r>
              <a:t>• 部署：本地端口 3500，mvn spring-boot:run 启动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F6E"/>
                </a:solidFill>
              </a:defRPr>
            </a:pPr>
            <a:r>
              <a:t>词忆 · 单词记忆网站 | 答辩演示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4332"/>
                </a:solidFill>
              </a:defRPr>
            </a:pPr>
            <a:r>
              <a:t>04  系统分层设计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417320"/>
            <a:ext cx="7589520" cy="868680"/>
          </a:xfrm>
          <a:prstGeom prst="roundRect">
            <a:avLst/>
          </a:prstGeom>
          <a:solidFill>
            <a:srgbClr val="D8F3DC"/>
          </a:solidFill>
          <a:ln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68880" y="152704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2D"/>
                </a:solidFill>
              </a:defRPr>
            </a:pPr>
            <a:r>
              <a:t>Controller 控制层  —  接收 HTTP 请求，返回 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468880"/>
            <a:ext cx="7589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80" y="257860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2D"/>
                </a:solidFill>
              </a:defRPr>
            </a:pPr>
            <a:r>
              <a:t>Service 业务层  —  背单词逻辑、出题、错词记录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520440"/>
            <a:ext cx="7589520" cy="868680"/>
          </a:xfrm>
          <a:prstGeom prst="roundRect">
            <a:avLst/>
          </a:prstGeom>
          <a:solidFill>
            <a:srgbClr val="D8F3DC"/>
          </a:solidFill>
          <a:ln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68880" y="363016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2D"/>
                </a:solidFill>
              </a:defRPr>
            </a:pPr>
            <a:r>
              <a:t>Repository 数据层  —  JPA 接口，操作数据库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572000"/>
            <a:ext cx="7589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4681728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2D"/>
                </a:solidFill>
              </a:defRPr>
            </a:pPr>
            <a:r>
              <a:t>Entity 实体层  —  User、Word、WordBook 等 7 张表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F6E"/>
                </a:solidFill>
              </a:defRPr>
            </a:pPr>
            <a:r>
              <a:t>词忆 · 单词记忆网站 | 答辩演示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4332"/>
                </a:solidFill>
              </a:defRPr>
            </a:pPr>
            <a:r>
              <a:t>05  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C3E2D"/>
                </a:solidFill>
              </a:defRPr>
            </a:pPr>
            <a:r>
              <a:t>• users — 用户账号信息</a:t>
            </a:r>
          </a:p>
          <a:p>
            <a:pPr>
              <a:spcAft>
                <a:spcPts val="1000"/>
              </a:spcAft>
              <a:defRPr sz="2100">
                <a:solidFill>
                  <a:srgbClr val="2C3E2D"/>
                </a:solidFill>
              </a:defRPr>
            </a:pPr>
            <a:r>
              <a:t>• word_books — 单词书（名称、描述、是否公开）</a:t>
            </a:r>
          </a:p>
          <a:p>
            <a:pPr>
              <a:spcAft>
                <a:spcPts val="1000"/>
              </a:spcAft>
              <a:defRPr sz="2100">
                <a:solidFill>
                  <a:srgbClr val="2C3E2D"/>
                </a:solidFill>
              </a:defRPr>
            </a:pPr>
            <a:r>
              <a:t>• words — 单词（拼写、音标、释义、例句）</a:t>
            </a:r>
          </a:p>
          <a:p>
            <a:pPr>
              <a:spcAft>
                <a:spcPts val="1000"/>
              </a:spcAft>
              <a:defRPr sz="2100">
                <a:solidFill>
                  <a:srgbClr val="2C3E2D"/>
                </a:solidFill>
              </a:defRPr>
            </a:pPr>
            <a:r>
              <a:t>• user_word_progress — 复习进度（阶段、下次复习时间）</a:t>
            </a:r>
          </a:p>
          <a:p>
            <a:pPr>
              <a:spcAft>
                <a:spcPts val="1000"/>
              </a:spcAft>
              <a:defRPr sz="2100">
                <a:solidFill>
                  <a:srgbClr val="2C3E2D"/>
                </a:solidFill>
              </a:defRPr>
            </a:pPr>
            <a:r>
              <a:t>• wrong_word_records — 错词记录（错误次数）</a:t>
            </a:r>
          </a:p>
          <a:p>
            <a:pPr>
              <a:spcAft>
                <a:spcPts val="1000"/>
              </a:spcAft>
              <a:defRPr sz="2100">
                <a:solidFill>
                  <a:srgbClr val="2C3E2D"/>
                </a:solidFill>
              </a:defRPr>
            </a:pPr>
            <a:r>
              <a:t>• exam_records / exam_answers — 考试记录与答题明细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F6E"/>
                </a:solidFill>
              </a:defRPr>
            </a:pPr>
            <a:r>
              <a:t>词忆 · 单词记忆网站 | 答辩演示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4332"/>
                </a:solidFill>
              </a:defRPr>
            </a:pPr>
            <a:r>
              <a:t>06  核心亮点：艾宾浩斯间隔复习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1828800"/>
          </a:xfrm>
          <a:prstGeom prst="roundRect">
            <a:avLst/>
          </a:prstGeom>
          <a:solidFill>
            <a:srgbClr val="D8F3DC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B4332"/>
                </a:solidFill>
              </a:defRPr>
            </a:pPr>
            <a:r>
              <a:t>5分钟 → 30分钟 → 12小时 → 1天 → 2天 → 4天 → 7天 → 15天 → 30天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C3E2D"/>
                </a:solidFill>
              </a:defRPr>
            </a:pPr>
            <a:r>
              <a:t>• 答对：进入下一复习阶段，间隔自动延长</a:t>
            </a:r>
          </a:p>
          <a:p>
            <a:pPr>
              <a:spcAft>
                <a:spcPts val="1000"/>
              </a:spcAft>
              <a:defRPr sz="2100">
                <a:solidFill>
                  <a:srgbClr val="2C3E2D"/>
                </a:solidFill>
              </a:defRPr>
            </a:pPr>
            <a:r>
              <a:t>• 答错：重置到第一阶段，并记入错词本</a:t>
            </a:r>
          </a:p>
          <a:p>
            <a:pPr>
              <a:spcAft>
                <a:spcPts val="1000"/>
              </a:spcAft>
              <a:defRPr sz="2100">
                <a:solidFill>
                  <a:srgbClr val="2C3E2D"/>
                </a:solidFill>
              </a:defRPr>
            </a:pPr>
            <a:r>
              <a:t>• 实现文件：SpacedRepetitionUtil.java</a:t>
            </a:r>
          </a:p>
          <a:p>
            <a:pPr>
              <a:spcAft>
                <a:spcPts val="1000"/>
              </a:spcAft>
              <a:defRPr sz="2100">
                <a:solidFill>
                  <a:srgbClr val="2C3E2D"/>
                </a:solidFill>
              </a:defRPr>
            </a:pPr>
            <a:r>
              <a:t>• 熟悉度根据阶段、正确/错误次数综合计算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F6E"/>
                </a:solidFill>
              </a:defRPr>
            </a:pPr>
            <a:r>
              <a:t>词忆 · 单词记忆网站 | 答辩演示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4332"/>
                </a:solidFill>
              </a:defRPr>
            </a:pPr>
            <a:r>
              <a:t>07  前后端联调与接口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C3E2D"/>
                </a:solidFill>
              </a:defRPr>
            </a:pPr>
            <a:r>
              <a:t>• 统一响应：{ code, message, data, timestamp }</a:t>
            </a:r>
          </a:p>
          <a:p>
            <a:pPr>
              <a:spcAft>
                <a:spcPts val="1000"/>
              </a:spcAft>
              <a:defRPr sz="2000">
                <a:solidFill>
                  <a:srgbClr val="2C3E2D"/>
                </a:solidFill>
              </a:defRPr>
            </a:pPr>
            <a:r>
              <a:t>• 登录获取 Token → 后续请求携带 Authorization 头</a:t>
            </a:r>
          </a:p>
          <a:p>
            <a:pPr>
              <a:spcAft>
                <a:spcPts val="1000"/>
              </a:spcAft>
              <a:defRPr sz="2000">
                <a:solidFill>
                  <a:srgbClr val="2C3E2D"/>
                </a:solidFill>
              </a:defRPr>
            </a:pPr>
            <a:r>
              <a:t>• Apifox 管理接口文档，记录成功/失败/异常案例</a:t>
            </a:r>
          </a:p>
          <a:p>
            <a:pPr>
              <a:spcAft>
                <a:spcPts val="1000"/>
              </a:spcAft>
              <a:defRPr sz="2000">
                <a:solidFill>
                  <a:srgbClr val="2C3E2D"/>
                </a:solidFill>
              </a:defRPr>
            </a:pPr>
            <a:r>
              <a:t>• 主要接口：/api/auth、/api/wordbooks、/api/memorize</a:t>
            </a:r>
          </a:p>
          <a:p>
            <a:pPr>
              <a:spcAft>
                <a:spcPts val="1000"/>
              </a:spcAft>
              <a:defRPr sz="2000">
                <a:solidFill>
                  <a:srgbClr val="2C3E2D"/>
                </a:solidFill>
              </a:defRPr>
            </a:pPr>
            <a:r>
              <a:t>•                   /api/quiz、/api/wrong-words、/api/exams</a:t>
            </a:r>
          </a:p>
          <a:p>
            <a:pPr>
              <a:spcAft>
                <a:spcPts val="1000"/>
              </a:spcAft>
              <a:defRPr sz="2000">
                <a:solidFill>
                  <a:srgbClr val="2C3E2D"/>
                </a:solidFill>
              </a:defRPr>
            </a:pPr>
            <a:r>
              <a:t>• 跨域配置：允许所有来源，支持前后端分离开发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F6E"/>
                </a:solidFill>
              </a:defRPr>
            </a:pPr>
            <a:r>
              <a:t>词忆 · 单词记忆网站 | 答辩演示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4332"/>
                </a:solidFill>
              </a:defRPr>
            </a:pPr>
            <a:r>
              <a:t>08  演示流程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417320"/>
            <a:ext cx="502920" cy="50292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2D"/>
                </a:solidFill>
              </a:defRPr>
            </a:pPr>
            <a:r>
              <a:t>启动服务 mvn spring-boot:run</a:t>
            </a:r>
          </a:p>
        </p:txBody>
      </p:sp>
      <p:sp>
        <p:nvSpPr>
          <p:cNvPr id="6" name="Oval 5"/>
          <p:cNvSpPr/>
          <p:nvPr/>
        </p:nvSpPr>
        <p:spPr>
          <a:xfrm>
            <a:off x="3383280" y="1417320"/>
            <a:ext cx="502920" cy="50292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40" y="141732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2D"/>
                </a:solidFill>
              </a:defRPr>
            </a:pPr>
            <a:r>
              <a:t>登录 demo / password123</a:t>
            </a:r>
          </a:p>
        </p:txBody>
      </p:sp>
      <p:sp>
        <p:nvSpPr>
          <p:cNvPr id="8" name="Oval 7"/>
          <p:cNvSpPr/>
          <p:nvPr/>
        </p:nvSpPr>
        <p:spPr>
          <a:xfrm>
            <a:off x="6263640" y="1417320"/>
            <a:ext cx="502920" cy="50292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41732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2D"/>
                </a:solidFill>
              </a:defRPr>
            </a:pPr>
            <a:r>
              <a:t>首页查看学习统计</a:t>
            </a:r>
          </a:p>
        </p:txBody>
      </p:sp>
      <p:sp>
        <p:nvSpPr>
          <p:cNvPr id="10" name="Oval 9"/>
          <p:cNvSpPr/>
          <p:nvPr/>
        </p:nvSpPr>
        <p:spPr>
          <a:xfrm>
            <a:off x="9144000" y="1417320"/>
            <a:ext cx="502920" cy="50292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141732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2D"/>
                </a:solidFill>
              </a:defRPr>
            </a:pPr>
            <a:r>
              <a:t>单词书管理 / 添加单词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703320"/>
            <a:ext cx="502920" cy="50292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2D"/>
                </a:solidFill>
              </a:defRPr>
            </a:pPr>
            <a:r>
              <a:t>背单词卡片复习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3703320"/>
            <a:ext cx="502920" cy="50292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370332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2D"/>
                </a:solidFill>
              </a:defRPr>
            </a:pPr>
            <a:r>
              <a:t>四选一自测并查看分数</a:t>
            </a:r>
          </a:p>
        </p:txBody>
      </p:sp>
      <p:sp>
        <p:nvSpPr>
          <p:cNvPr id="16" name="Oval 15"/>
          <p:cNvSpPr/>
          <p:nvPr/>
        </p:nvSpPr>
        <p:spPr>
          <a:xfrm>
            <a:off x="6263640" y="3703320"/>
            <a:ext cx="502920" cy="50292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703320"/>
            <a:ext cx="2194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2D"/>
                </a:solidFill>
              </a:defRPr>
            </a:pPr>
            <a:r>
              <a:t>错词统计 &amp; 考试记录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F6E"/>
                </a:solidFill>
              </a:defRPr>
            </a:pPr>
            <a:r>
              <a:t>词忆 · 单词记忆网站 | 答辩演示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4332"/>
                </a:solidFill>
              </a:defRPr>
            </a:pPr>
            <a:r>
              <a:t>09  Git 管理与总结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C3E2D"/>
                </a:solidFill>
              </a:defRPr>
            </a:pPr>
            <a:r>
              <a:t>• 分支：main（正式版）/ develop（开发主线）/ feature-xxx</a:t>
            </a:r>
          </a:p>
          <a:p>
            <a:pPr>
              <a:spcAft>
                <a:spcPts val="1000"/>
              </a:spcAft>
              <a:defRPr sz="2100">
                <a:solidFill>
                  <a:srgbClr val="2C3E2D"/>
                </a:solidFill>
              </a:defRPr>
            </a:pPr>
            <a:r>
              <a:t>• 提交规范：feat(auth): 实现用户登录功能</a:t>
            </a:r>
          </a:p>
          <a:p>
            <a:pPr>
              <a:spcAft>
                <a:spcPts val="1000"/>
              </a:spcAft>
              <a:defRPr sz="2100">
                <a:solidFill>
                  <a:srgbClr val="2C3E2D"/>
                </a:solidFill>
              </a:defRPr>
            </a:pPr>
            <a:r>
              <a:t>• 项目地址：github.com/Nancy985/word-memory</a:t>
            </a:r>
          </a:p>
          <a:p>
            <a:pPr>
              <a:spcAft>
                <a:spcPts val="1000"/>
              </a:spcAft>
              <a:defRPr sz="2100">
                <a:solidFill>
                  <a:srgbClr val="2C3E2D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100">
                <a:solidFill>
                  <a:srgbClr val="2C3E2D"/>
                </a:solidFill>
              </a:defRPr>
            </a:pPr>
            <a:r>
              <a:t>• 总结：完整前后端 + 科学记忆算法 + 错词追踪 + 自测评分</a:t>
            </a:r>
          </a:p>
          <a:p>
            <a:pPr>
              <a:spcAft>
                <a:spcPts val="1000"/>
              </a:spcAft>
              <a:defRPr sz="2100">
                <a:solidFill>
                  <a:srgbClr val="2C3E2D"/>
                </a:solidFill>
              </a:defRPr>
            </a:pPr>
            <a:r>
              <a:t>• 展望：接入 MySQL、移动端适配、语音朗读、单词导入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D6A4F"/>
                </a:solidFill>
              </a:defRPr>
            </a:pPr>
            <a:r>
              <a:t>感谢聆听 · 欢迎提问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F6E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498</Words>
  <Application>Microsoft Macintosh PowerPoint</Application>
  <PresentationFormat>宽屏</PresentationFormat>
  <Paragraphs>96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Microsoft Office User</cp:lastModifiedBy>
  <cp:revision>3</cp:revision>
  <dcterms:created xsi:type="dcterms:W3CDTF">2013-01-27T09:14:16Z</dcterms:created>
  <dcterms:modified xsi:type="dcterms:W3CDTF">2026-06-20T18:57:33Z</dcterms:modified>
  <cp:category/>
</cp:coreProperties>
</file>